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ist"/>
      <p:regular r:id="rId17"/>
    </p:embeddedFont>
    <p:embeddedFont>
      <p:font typeface="Geist"/>
      <p:regular r:id="rId18"/>
    </p:embeddedFont>
    <p:embeddedFont>
      <p:font typeface="Geist"/>
      <p:regular r:id="rId19"/>
    </p:embeddedFont>
    <p:embeddedFont>
      <p:font typeface="Geis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1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0144"/>
            <a:ext cx="75564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74538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3,900 transactions · 18 features · Revenue, retention &amp; product insights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8494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258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62438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259258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362438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55985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37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559165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25278" y="6096238"/>
            <a:ext cx="637972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Review Rating only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64618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Demographics · Purchase details · Behavior · Subscription data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2123"/>
            <a:ext cx="7444978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Preparation in Python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194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260" y="2904411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89024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Load &amp; Explore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394829"/>
            <a:ext cx="289929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200084" y="28194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155" y="2904411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7200" y="289024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Clean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37200" y="3394829"/>
            <a:ext cx="28994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Impute Review Rating by category median; snake_case rename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47328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5260" y="4817864"/>
            <a:ext cx="340162" cy="340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4803696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Engineer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5308283"/>
            <a:ext cx="2899291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age_buckets, purchase_frequency_days; drop redundant promo_code_used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10200084" y="47328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85155" y="4817864"/>
            <a:ext cx="340162" cy="3401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37200" y="4803696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Load to DB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10937200" y="5308283"/>
            <a:ext cx="28994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PostgreSQL integration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2458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04887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7655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71863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 customers generate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2.1×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more revenue than female customers.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265533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Male: $157.9K · Female: $75.2K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599521" y="4815483"/>
            <a:ext cx="6244709" cy="895707"/>
          </a:xfrm>
          <a:prstGeom prst="roundRect">
            <a:avLst>
              <a:gd name="adj" fmla="val 10636"/>
            </a:avLst>
          </a:prstGeom>
          <a:solidFill>
            <a:srgbClr val="00194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121473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36637" y="5098971"/>
            <a:ext cx="528077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Major opportunity to grow female customer base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887"/>
            <a:ext cx="9476423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Revenue by Category &amp; Age Group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3978"/>
            <a:ext cx="29513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Revenue by Category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7628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303978"/>
            <a:ext cx="312050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2927628"/>
            <a:ext cx="6244709" cy="3693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693491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Clothing dominates at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$104K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Young adults lead age groups at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$62K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8413"/>
            <a:ext cx="6770251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15691"/>
            <a:ext cx="7556421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196536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43464" y="2469952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3,476 · $59 avg spend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41238"/>
            <a:ext cx="7556421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3464" y="3490913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3464" y="3995499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424 · $60 avg spend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66786"/>
            <a:ext cx="7556421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464" y="501646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3464" y="5521047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27% of base · $62.6K revenue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292334"/>
            <a:ext cx="7556421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3464" y="6542008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3464" y="7046595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Only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2.13%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total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4802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Behavioral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889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Discount Impact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2543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889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99521" y="3174206"/>
            <a:ext cx="6244709" cy="133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Discounts: avg spend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$59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vs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$60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without</a:t>
            </a:r>
            <a:endParaRPr lang="en-US" sz="17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Shipping type has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minimal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rating impact (3.7–3.8)</a:t>
            </a:r>
            <a:endParaRPr lang="en-US" sz="17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Purchase frequency: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consistent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~$58–$60 across all intervals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599521" y="4767143"/>
            <a:ext cx="6244709" cy="895707"/>
          </a:xfrm>
          <a:prstGeom prst="roundRect">
            <a:avLst>
              <a:gd name="adj" fmla="val 10636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073134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36637" y="5050631"/>
            <a:ext cx="528077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Discounts drive volume, not order value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4802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889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Rated Products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2543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8894"/>
            <a:ext cx="366117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Highest Revenue Products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202543"/>
            <a:ext cx="6244709" cy="3693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72239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49517"/>
            <a:ext cx="7556421" cy="5057775"/>
          </a:xfrm>
          <a:prstGeom prst="roundRect">
            <a:avLst>
              <a:gd name="adj" fmla="val 188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1872377"/>
            <a:ext cx="7510701" cy="1253014"/>
          </a:xfrm>
          <a:prstGeom prst="roundRect">
            <a:avLst>
              <a:gd name="adj" fmla="val 7603"/>
            </a:avLst>
          </a:prstGeom>
          <a:solidFill>
            <a:srgbClr val="101620"/>
          </a:solidFill>
          <a:ln/>
        </p:spPr>
      </p:sp>
      <p:sp>
        <p:nvSpPr>
          <p:cNvPr id="6" name="Text 3"/>
          <p:cNvSpPr/>
          <p:nvPr/>
        </p:nvSpPr>
        <p:spPr>
          <a:xfrm>
            <a:off x="6529864" y="209919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$233K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29864" y="2603778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303050" y="3125391"/>
            <a:ext cx="7510701" cy="1253014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9" name="Shape 6"/>
          <p:cNvSpPr/>
          <p:nvPr/>
        </p:nvSpPr>
        <p:spPr>
          <a:xfrm>
            <a:off x="6303050" y="3125391"/>
            <a:ext cx="7510701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sp>
        <p:nvSpPr>
          <p:cNvPr id="10" name="Text 7"/>
          <p:cNvSpPr/>
          <p:nvPr/>
        </p:nvSpPr>
        <p:spPr>
          <a:xfrm>
            <a:off x="6529864" y="335220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3.9K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29864" y="3856792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303050" y="4378404"/>
            <a:ext cx="7510701" cy="1253014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3050" y="4378404"/>
            <a:ext cx="7510701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sp>
        <p:nvSpPr>
          <p:cNvPr id="14" name="Text 11"/>
          <p:cNvSpPr/>
          <p:nvPr/>
        </p:nvSpPr>
        <p:spPr>
          <a:xfrm>
            <a:off x="6529864" y="4605218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$59.76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29864" y="5109805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Avg Order Value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303050" y="5631418"/>
            <a:ext cx="7510701" cy="1253014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3050" y="5631418"/>
            <a:ext cx="7510701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sp>
        <p:nvSpPr>
          <p:cNvPr id="18" name="Text 15"/>
          <p:cNvSpPr/>
          <p:nvPr/>
        </p:nvSpPr>
        <p:spPr>
          <a:xfrm>
            <a:off x="6529864" y="585823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3.75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29864" y="6362819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Avg Rating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280190" y="7162443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Filters: Category · Gender · Subscription · Shipping · Season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24364"/>
            <a:ext cx="6724412" cy="63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8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Recommendations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228" y="1592699"/>
            <a:ext cx="389811" cy="389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8" y="2191822"/>
            <a:ext cx="246292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Expand Female Base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2228" y="2609136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Targeted campaigns, style recommendations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9856" y="1592699"/>
            <a:ext cx="389811" cy="389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19856" y="2191822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Boost Retention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19856" y="2609136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Loyalty programs, subscription perks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228" y="3179564"/>
            <a:ext cx="389811" cy="389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228" y="3778687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Discounts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2228" y="4196001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Cart-value incentives, targeted offers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9856" y="3179564"/>
            <a:ext cx="389811" cy="389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19856" y="3778687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Positioning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19856" y="4196001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Promote top-rated items, "Top Rated" tags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2228" y="4766429"/>
            <a:ext cx="389811" cy="389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2228" y="5365552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Increase AOV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82228" y="5782866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Bundles, minimum cart offers, upsells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9856" y="4766429"/>
            <a:ext cx="389811" cy="3898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19856" y="5365552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Drive Frequency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19856" y="5782866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Re-engagement emails, limited-time offers</a:t>
            </a:r>
            <a:endParaRPr lang="en-US" sz="15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2228" y="6353294"/>
            <a:ext cx="389811" cy="38981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2228" y="6952417"/>
            <a:ext cx="244459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Focus High-Revenue</a:t>
            </a:r>
            <a:endParaRPr lang="en-US" sz="1900" dirty="0"/>
          </a:p>
        </p:txBody>
      </p:sp>
      <p:sp>
        <p:nvSpPr>
          <p:cNvPr id="23" name="Text 14"/>
          <p:cNvSpPr/>
          <p:nvPr/>
        </p:nvSpPr>
        <p:spPr>
          <a:xfrm>
            <a:off x="682228" y="7369731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 top categories, increase marketing spend</a:t>
            </a:r>
            <a:endParaRPr lang="en-US" sz="15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19856" y="6353294"/>
            <a:ext cx="389811" cy="389811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19856" y="6952417"/>
            <a:ext cx="24366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Cost Optimization</a:t>
            </a:r>
            <a:endParaRPr lang="en-US" sz="1900" dirty="0"/>
          </a:p>
        </p:txBody>
      </p:sp>
      <p:sp>
        <p:nvSpPr>
          <p:cNvPr id="26" name="Text 16"/>
          <p:cNvSpPr/>
          <p:nvPr/>
        </p:nvSpPr>
        <p:spPr>
          <a:xfrm>
            <a:off x="7419856" y="7369731"/>
            <a:ext cx="6528316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Avoid over-investing in fast shipping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2026-04-28T16:13:59Z</dcterms:created>
  <dcterms:modified xsi:type="dcterms:W3CDTF">2026-04-28T16:13:59Z</dcterms:modified>
</cp:coreProperties>
</file>